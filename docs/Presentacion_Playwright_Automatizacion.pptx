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73152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59E0B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3E0"/>
                </a:solidFill>
                <a:latin typeface="Arial"/>
              </a:defRPr>
            </a:pPr>
            <a:r>
              <a:t>UTEC · CS5383 - PRUEBAS Y VERIFICACIÓN DE SOFTWARE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Automatización Web con Playwright (TypeScript)</a:t>
            </a:r>
          </a:p>
          <a:p>
            <a:pPr>
              <a:defRPr sz="1600">
                <a:solidFill>
                  <a:srgbClr val="BAE6FD"/>
                </a:solidFill>
                <a:latin typeface="Arial"/>
              </a:defRPr>
            </a:pPr>
            <a:r>
              <a:t>Patrones de Diseño (POM &amp; Fixtures - S25) · Flujo Happy Path E2E · Integración con Inteligencia Artificial</a:t>
            </a:r>
          </a:p>
          <a:p>
            <a:br/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Presentado por: Cesar y Yoselyn (Grupo 1)  |  Laboratorio Semana 11  |  Tiempo: ~10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01. FUNDAMENTOS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¿Qué es Playwright, qué problemas resuelve y su evolución?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Framework moderno creado por Microsoft para superar las limitaciones históricas de la automatización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1 min 15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¿Qué es y Qué Problemas Resuelve?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Origen: </a:t>
            </a:r>
            <a:r>
              <a:rPr b="0">
                <a:solidFill>
                  <a:srgbClr val="1E293B"/>
                </a:solidFill>
              </a:rPr>
              <a:t>Desarrollado por Microsoft (2020) por el equipo creador de Puppeteer (Google). Multi-lenguaje (TypeScript, Python, Java, .NET).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Elimina el Flakiness: </a:t>
            </a:r>
            <a:r>
              <a:rPr b="0">
                <a:solidFill>
                  <a:srgbClr val="1E293B"/>
                </a:solidFill>
              </a:rPr>
              <a:t>Cero esperas arbitrarias (sleep(3)). Trae Auto-Waiting nativo en todas las acciones y reintentos reactivos.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Multi-Motor Consistente: </a:t>
            </a:r>
            <a:r>
              <a:rPr b="0">
                <a:solidFill>
                  <a:srgbClr val="1E293B"/>
                </a:solidFill>
              </a:rPr>
              <a:t>Un solo API para Chromium (Chrome, Edge), WebKit (Safari) y Firefox (Gecko) sin drivers desalineados.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Aislamiento Ultrarrápido: </a:t>
            </a:r>
            <a:r>
              <a:rPr b="0">
                <a:solidFill>
                  <a:srgbClr val="1E293B"/>
                </a:solidFill>
              </a:rPr>
              <a:t>Crea sesiones aisladas (BrowserContext) en 10-20 ms vs los segundos que toma iniciar navegadores en Selenium.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Evolución Cronológica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🔹 2017-2019: </a:t>
            </a:r>
            <a:r>
              <a:rPr b="0">
                <a:solidFill>
                  <a:srgbClr val="1E293B"/>
                </a:solidFill>
              </a:rPr>
              <a:t>Puppeteer en Google: Demuestra el poder de CDP pero solo para Chrome.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🔹 2020: </a:t>
            </a:r>
            <a:r>
              <a:rPr b="0">
                <a:solidFill>
                  <a:srgbClr val="1E293B"/>
                </a:solidFill>
              </a:rPr>
              <a:t>Playwright v1.0: Soporte unificado de Chromium, Firefox y WebKit en Microsoft.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🔹 2021-2022: </a:t>
            </a:r>
            <a:r>
              <a:rPr b="0">
                <a:solidFill>
                  <a:srgbClr val="1E293B"/>
                </a:solidFill>
              </a:rPr>
              <a:t>Ecosistema Integral: Runner oficial @playwright/test, Trace Viewer y Codegen.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🔹 2023-2024: </a:t>
            </a:r>
            <a:r>
              <a:rPr b="0">
                <a:solidFill>
                  <a:srgbClr val="1E293B"/>
                </a:solidFill>
              </a:rPr>
              <a:t>UI Mode &amp; Time-Travel: Depuración visual interactiva paso a paso (--ui).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🔹 2025-2026: </a:t>
            </a:r>
            <a:r>
              <a:rPr b="0">
                <a:solidFill>
                  <a:srgbClr val="1E293B"/>
                </a:solidFill>
              </a:rPr>
              <a:t>Era de Inteligencia Artificial: Integración con MCP (Model Context Protocol), Self-Healing locators y agentes LLM autónomos.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02. ARQUITECTURA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Arquitectura Interna y Componentes Clave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Comunicación bidireccional continua y mecanismos antifragilidad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1 min 00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Arial"/>
              </a:defRPr>
            </a:pPr>
            <a:r>
              <a:t>1. Comunicación WebSocket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A diferencia del HTTP REST cíclico de WebDriver, Playwright usa una conexión WebSocket bidireccional única y persistente con el navegador (latencia de ~1 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Arial"/>
              </a:defRPr>
            </a:pPr>
            <a:r>
              <a:t>2. Jerarquía de Abstracción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Browser: Proceso pesado iniciado 1 sola vez.</a:t>
            </a:r>
            <a:br/>
            <a:r>
              <a:t>• BrowserContext: Sesión limpia (cookies, localStorage) creada en ~10 ms sin abrir nuevas ventanas completas.</a:t>
            </a:r>
            <a:br/>
            <a:r>
              <a:t>• Page: Pestaña donde interactúa el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Arial"/>
              </a:defRPr>
            </a:pPr>
            <a:r>
              <a:t>3. Auto-Waiting (5 Checks)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Antes de cada clic o escritura, Playwright verifica automáticamente:</a:t>
            </a:r>
            <a:br/>
            <a:r>
              <a:t>1. Visible · 2. Estable (sin animación) · 3. Recibe eventos (sin overlays) · 4. Habilitado · 5. Adjunto al DOM.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Arial"/>
              </a:defRPr>
            </a:pPr>
            <a:r>
              <a:t>4. Herramientas Integradas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Trace Viewer: Grabación forense offline (DOM snapshots, red, consola).</a:t>
            </a:r>
            <a:br/>
            <a:r>
              <a:t>• UI Mode: Watch mode, filtros y depuración interactiva en tiempo real.</a:t>
            </a:r>
            <a:br/>
            <a:r>
              <a:t>• Codegen: Grabación de pasos del usuario generando código limpio.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03. PATRONES DE DISEÑO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Patrones de Diseño Exigidos: POM + Fixtures (Slide 25)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Alineado a S25 y regla de S27: 'Empezar simple (Page Object + fixtures)'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1 min 00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1. Page Object Model (POM - S25)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Problema que Resuelve: </a:t>
            </a:r>
            <a:r>
              <a:rPr b="0">
                <a:solidFill>
                  <a:srgbClr val="1E293B"/>
                </a:solidFill>
              </a:rPr>
              <a:t>Localizadores duplicados en decenas de tests. Si un botón cambia, se arregla en 1 solo lugar.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Separación QUÉ vs CÓMO: </a:t>
            </a:r>
            <a:r>
              <a:rPr b="0">
                <a:solidFill>
                  <a:srgbClr val="1E293B"/>
                </a:solidFill>
              </a:rPr>
              <a:t>El test (.spec.ts) describe la lógica de negocio (QUÉ). La clase de página encapsula selectores y acciones en el DOM (CÓMO).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• Clases en Nuestro Proyecto: </a:t>
            </a:r>
            <a:r>
              <a:rPr b="0">
                <a:solidFill>
                  <a:srgbClr val="1E293B"/>
                </a:solidFill>
              </a:rPr>
              <a:t>BasePage, LoginPage, InventoryPage, CartPage y CheckoutPage encapsulan cada pantalla.</a:t>
            </a:r>
          </a:p>
          <a:p>
            <a:br/>
            <a:pPr>
              <a:defRPr sz="1000">
                <a:solidFill>
                  <a:srgbClr val="0A2540"/>
                </a:solidFill>
                <a:latin typeface="Consolas"/>
              </a:defRPr>
            </a:pPr>
            <a:r>
              <a:t>await loginPage.login('user', 'pass');</a:t>
            </a:r>
            <a:br/>
            <a:r>
              <a:t>await inventoryPage.addProductToCart('Backpack');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2. Fixtures &amp; Data Builder (S25)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Inyección de Dependencias: </a:t>
            </a:r>
            <a:r>
              <a:rPr b="0">
                <a:solidFill>
                  <a:srgbClr val="1E293B"/>
                </a:solidFill>
              </a:rPr>
              <a:t>Mediante test.extend, Playwright inyecta las páginas limpias en el test, eliminando el boilerplate de new Page(page).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Aislamiento Estricto (FIRST): </a:t>
            </a:r>
            <a:r>
              <a:rPr b="0">
                <a:solidFill>
                  <a:srgbClr val="1E293B"/>
                </a:solidFill>
              </a:rPr>
              <a:t>Cada fixture inicializa y limpia su propio estado automáticamente, garantizando cero contaminación entre pruebas.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Test Data Builder (S25): </a:t>
            </a:r>
            <a:r>
              <a:rPr b="0">
                <a:solidFill>
                  <a:srgbClr val="1E293B"/>
                </a:solidFill>
              </a:rPr>
              <a:t>Clase CustomerBuilder en src/data/testData.ts genera clientes válidos por defecto y permite variaciones fluidas.</a:t>
            </a:r>
          </a:p>
          <a:p>
            <a:br/>
            <a:pPr>
              <a:defRPr sz="950">
                <a:solidFill>
                  <a:srgbClr val="0A2540"/>
                </a:solidFill>
                <a:latin typeface="Consolas"/>
              </a:defRPr>
            </a:pPr>
            <a:r>
              <a:t>test('Compra', async ({ loginPage, checkoutPage }) =&gt; {</a:t>
            </a:r>
            <a:br/>
            <a:r>
              <a:t>  const customer = new CustomerBuilder().build();</a:t>
            </a:r>
            <a:br/>
            <a:r>
              <a:t>  await checkoutPage.fillShipping(customer);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04. INTELIGENCIA ARTIFICIAL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Capacidades de IA Aplicadas a la Automatización Web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Innovación de vanguardia: Auto-curación de selectores rotos y pruebas con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1 min 00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1. Self-Healing Locators (Auto-Curación Semántica)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Problema: Los desarrolladores frontend cambian IDs o clases CSS y quiebran los pipelines de CI/CD.</a:t>
            </a:r>
            <a:br/>
            <a:r>
              <a:t>Solución: El motor de IA intercepta el selector roto, inspecciona el árbol semántico y de accesibilidad del DOM e infiere el elemento real sin abortar el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2. Pruebas por Lenguaje Natural (ZeroStep Pattern)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Permite escribir pasos directamente en lenguaje humano: 'Agregar al carrito el producto Sauce Labs Backpack'. La IA descompone la intención y ejecuta el clic en el elemento correspondiente.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3. Agentes Autónomos con MCP (Model Context Protocol)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Agentes LLM integrados con Playwright que exploran la UI de forma no supervisada, descubren nuevos flujos y generan scripts de prueba completos.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4. Nuestra Demostración en Código (src/ai/AiHealer.ts)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Implementamos un motor de auto-curación e inferencia de prompts que demuestra en vivo cómo una prueba supera un selector obsoleto con 98% de confianza.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05. DEMOSTRACIÓN EN VIVO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Demostración en Vivo: Happy Path E2E + Auto-Curación IA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Ejecución real sobre SauceDemo (E-Commerce) — Windows y Linux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3 min 00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Flujo Happy Path E2E Completo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👉 1. Login: </a:t>
            </a:r>
            <a:r>
              <a:rPr b="0">
                <a:solidFill>
                  <a:srgbClr val="1E293B"/>
                </a:solidFill>
              </a:rPr>
              <a:t>standard_user con credenciales validadas.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👉 2. Catálogo: </a:t>
            </a:r>
            <a:r>
              <a:rPr b="0">
                <a:solidFill>
                  <a:srgbClr val="1E293B"/>
                </a:solidFill>
              </a:rPr>
              <a:t>Selección y adición de Backpack y Bike Light.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👉 3. Carrito: </a:t>
            </a:r>
            <a:r>
              <a:rPr b="0">
                <a:solidFill>
                  <a:srgbClr val="1E293B"/>
                </a:solidFill>
              </a:rPr>
              <a:t>Verificación de cantidad de ítems (badge = 2).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👉 4. Checkout: </a:t>
            </a:r>
            <a:r>
              <a:rPr b="0">
                <a:solidFill>
                  <a:srgbClr val="1E293B"/>
                </a:solidFill>
              </a:rPr>
              <a:t>Datos de envío con CustomerBuilder.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👉 5. Resumen Financiero: </a:t>
            </a:r>
            <a:r>
              <a:rPr b="0">
                <a:solidFill>
                  <a:srgbClr val="1E293B"/>
                </a:solidFill>
              </a:rPr>
              <a:t>Subtotal ($39.98) + Tax ($3.20) = $43.18.</a:t>
            </a:r>
          </a:p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👉 6. Oráculo Final: </a:t>
            </a:r>
            <a:r>
              <a:rPr b="0">
                <a:solidFill>
                  <a:srgbClr val="1E293B"/>
                </a:solidFill>
              </a:rPr>
              <a:t>Aserción: 'Thank you for your order!'.</a:t>
            </a:r>
          </a:p>
          <a:p>
            <a:br/>
            <a:pPr>
              <a:defRPr sz="1100" b="1">
                <a:solidFill>
                  <a:srgbClr val="0284C7"/>
                </a:solidFill>
                <a:latin typeface="Consolas"/>
              </a:defRPr>
            </a:pPr>
            <a:r>
              <a:t>Comando: npm run test:happy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3E0"/>
                </a:solidFill>
                <a:latin typeface="Arial"/>
              </a:defRPr>
            </a:pPr>
            <a:r>
              <a:t>Capacidad de IA Mostrada en Vivo</a:t>
            </a:r>
          </a:p>
          <a:p>
            <a:pPr>
              <a:defRPr sz="1000">
                <a:solidFill>
                  <a:srgbClr val="E0F2FE"/>
                </a:solidFill>
                <a:latin typeface="Consolas"/>
              </a:defRPr>
            </a:pPr>
            <a:r>
              <a:t>🤖 [AI-Agent] Selector obsoleto:</a:t>
            </a:r>
            <a:br/>
            <a:r>
              <a:t>   "#submit_auth_old_button_v1_deprecated"</a:t>
            </a:r>
            <a:br/>
            <a:r>
              <a:t>🎯 Intención: "Iniciar sesión en la app"</a:t>
            </a:r>
            <a:br/>
            <a:r>
              <a:t>⚠️ [ALERTA] Selector roto detectado!</a:t>
            </a:r>
            <a:br/>
            <a:r>
              <a:t>🧠 Activando Auto-Curación Semántica...</a:t>
            </a:r>
            <a:br/>
            <a:r>
              <a:t>✨ ¡Elemento Curado Localizado con Éxito!</a:t>
            </a:r>
            <a:br/>
            <a:r>
              <a:t>   🔹 Sugerido: [data-test="login-button"]</a:t>
            </a:r>
            <a:br/>
            <a:r>
              <a:t>   🔹 Confianza: 98.0%</a:t>
            </a:r>
            <a:br/>
            <a:r>
              <a:t>   🔹 Razón: Botón de envío de login en DOM.</a:t>
            </a:r>
            <a:br/>
            <a:r>
              <a:t>🎉 Prueba finalizó en VERDE sin fallar.</a:t>
            </a:r>
            <a:br/>
            <a:br/>
            <a:r>
              <a:t>Comando: npm run test:ai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06. HALLAZGOS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Hallazgos y Dificultades en la Adopción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Retos reales superados durante la automatización en TypeScript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0 min 55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1. Rigor Asíncrono (async / await)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⚠️ Toda llamada a Playwright devuelve una Promesa. Omitir un await causa condiciones de carrera donde la prueba verifica antes de que la página termine de renderizar.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💡 Solución: Auditar con reglas estrictas de TypeScript y ESLint.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2. Violación del Strict Mode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⚠️ Playwright lanza error intencional si un localizador devuelve más de 1 elemento coincidente (evita falsos positivos).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💡 Solución: Usar selectores basados en accesibilidad (getByRole) o filtrar con .filter({ hasText }).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3. Sincronización de Popups / Ventanas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⚠️ Las pestañas externas requieren escuchar el evento page.waitForEvent('popup') antes de disparar el clic de apertura.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💡 Solución: Manejar la concurrencia con Promise.all([]).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4. Portabilidad Windows / Linux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⚠️ En Linux sin entorno gráfico (servidores, WSL, CI/CD), los tests headed fallan al no encontrar display.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💡 Solución: Scripts con fallback automático a headless (run-demo.sh).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06. EVALUACIÓN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Limitaciones, ¿Cuándo NO usarla? y Comparativa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Análisis crítico y límites de aplicación frente a otras herramientas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0 min 50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Arial"/>
              </a:defRPr>
            </a:pPr>
            <a:r>
              <a:t>Limitaciones y ¿Cuándo NO Usarla?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❌ Apps Móviles Nativas Físicas: </a:t>
            </a:r>
            <a:r>
              <a:rPr b="0">
                <a:solidFill>
                  <a:srgbClr val="1E293B"/>
                </a:solidFill>
              </a:rPr>
              <a:t>Playwright emula móviles en web, pero NO ejecuta en smartphones reales con iOS/Android nativo. Usar Appium.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❌ Equipos sin Experiencia en Código: </a:t>
            </a:r>
            <a:r>
              <a:rPr b="0">
                <a:solidFill>
                  <a:srgbClr val="1E293B"/>
                </a:solidFill>
              </a:rPr>
              <a:t>No es una herramienta No-Code. Requiere programadores o QA Automation Engineers. Usar Katalon Studio o Tricentis Tosca.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❌ Navegadores Obsoletos: </a:t>
            </a:r>
            <a:r>
              <a:rPr b="0">
                <a:solidFill>
                  <a:srgbClr val="1E293B"/>
                </a:solidFill>
              </a:rPr>
              <a:t>No soporta Internet Explorer 11 ni versiones antiguas no actualizables.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❌ Pruebas Unitarias Puras: </a:t>
            </a:r>
            <a:r>
              <a:rPr b="0">
                <a:solidFill>
                  <a:srgbClr val="1E293B"/>
                </a:solidFill>
              </a:rPr>
              <a:t>Según la pirámide de pruebas (S9), la lógica interna debe probarse con Jest o Vitest, no por la interfaz.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Resumen Comparativo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Velocidad: </a:t>
            </a:r>
            <a:r>
              <a:rPr b="0">
                <a:solidFill>
                  <a:srgbClr val="1E293B"/>
                </a:solidFill>
              </a:rPr>
              <a:t>Playwright: Ultrarrápida | Selenium: Lenta | Cypress: Rápida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Protocolo: </a:t>
            </a:r>
            <a:r>
              <a:rPr b="0">
                <a:solidFill>
                  <a:srgbClr val="1E293B"/>
                </a:solidFill>
              </a:rPr>
              <a:t>Playwright: WebSocket / CDP | Selenium: HTTP REST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Multi-Pestaña: </a:t>
            </a:r>
            <a:r>
              <a:rPr b="0">
                <a:solidFill>
                  <a:srgbClr val="1E293B"/>
                </a:solidFill>
              </a:rPr>
              <a:t>Playwright: Nativo | Cypress: No soporta multi-tab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Multi-Motor: </a:t>
            </a:r>
            <a:r>
              <a:rPr b="0">
                <a:solidFill>
                  <a:srgbClr val="1E293B"/>
                </a:solidFill>
              </a:rPr>
              <a:t>Playwright: Chromium, Firefox, WebKit reales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Esperas: </a:t>
            </a:r>
            <a:r>
              <a:rPr b="0">
                <a:solidFill>
                  <a:srgbClr val="1E293B"/>
                </a:solidFill>
              </a:rPr>
              <a:t>Playwright: Auto-waiting nativo (cero sleep)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Trazas: </a:t>
            </a:r>
            <a:r>
              <a:rPr b="0">
                <a:solidFill>
                  <a:srgbClr val="1E293B"/>
                </a:solidFill>
              </a:rPr>
              <a:t>Playwright: Trace Viewer offline interactivo</a:t>
            </a:r>
          </a:p>
          <a:p>
            <a:pPr>
              <a:defRPr sz="1050" b="1">
                <a:solidFill>
                  <a:srgbClr val="0284C7"/>
                </a:solidFill>
                <a:latin typeface="Arial"/>
              </a:defRPr>
            </a:pPr>
            <a:r>
              <a:t>• Integración IA: </a:t>
            </a:r>
            <a:r>
              <a:rPr b="0">
                <a:solidFill>
                  <a:srgbClr val="1E293B"/>
                </a:solidFill>
              </a:rPr>
              <a:t>Playwright: Nativa (ZeroStep, MCP, Self-Healing)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326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07. CIERRE</a:t>
            </a:r>
          </a:p>
          <a:p>
            <a:pPr>
              <a:defRPr sz="2200" b="1">
                <a:solidFill>
                  <a:srgbClr val="0A2540"/>
                </a:solidFill>
                <a:latin typeface="Arial"/>
              </a:defRPr>
            </a:pPr>
            <a:r>
              <a:t>Conclusiones Finales y Referencias Bibliográficas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Resumen de aprendizajes y cumplimiento de estándares ISTQB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65760"/>
            <a:ext cx="128016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284C7"/>
                </a:solidFill>
                <a:latin typeface="Arial"/>
              </a:defRPr>
            </a:pPr>
            <a:r>
              <a:t>0 min 30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Conclusiones de la Experiencia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Mantenibilidad con POM + Fixtures: </a:t>
            </a:r>
            <a:r>
              <a:rPr b="0">
                <a:solidFill>
                  <a:srgbClr val="1E293B"/>
                </a:solidFill>
              </a:rPr>
              <a:t>Desacopló totalmente la lógica de negocio de los cambios en el DOM, reduciendo el costo de mantenimiento a casi cero.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Cero Pruebas Frágiles (Flakiness): </a:t>
            </a:r>
            <a:r>
              <a:rPr b="0">
                <a:solidFill>
                  <a:srgbClr val="1E293B"/>
                </a:solidFill>
              </a:rPr>
              <a:t>El Auto-waiting y las aserciones reactivas erradican los retardos artificiales, logrando ejecuciones de 5 segundos.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La IA como Aliado en Regresión: </a:t>
            </a:r>
            <a:r>
              <a:rPr b="0">
                <a:solidFill>
                  <a:srgbClr val="1E293B"/>
                </a:solidFill>
              </a:rPr>
              <a:t>La auto-curación semántica permite que los pipelines continúen operando ante refactors de la interfaz.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✔ Estándar ISTQB CTFL v4.0.1: </a:t>
            </a:r>
            <a:r>
              <a:rPr b="0">
                <a:solidFill>
                  <a:srgbClr val="1E293B"/>
                </a:solidFill>
              </a:rPr>
              <a:t>La suite cumple con los criterios de prueba de sistema funcional por interfaz.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Arial"/>
              </a:defRPr>
            </a:pPr>
            <a:r>
              <a:t>Referencias y Repositorio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ISTQB (2024). Certified Tester Foundation Level Syllabus v4.0.1. Secciones 2.2.1, 4.2.4 y 6.2.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Microsoft Playwright (2025). Locators, Auto-waiting, Actionability, Trace Viewer. playwright.dev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Martin Fowler (2013). PageObject Design Pattern.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W3C (2025). WebDriver BiDi Specification Working Draft.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• ZeroStep AI (2024). AI-Powered Testing for Playwright.</a:t>
            </a:r>
          </a:p>
          <a:p>
            <a:br/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🚀 Repositorio y Demo en vivo disponibles en: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playwright-demo/ (Windows y Linux)</a:t>
            </a:r>
          </a:p>
          <a:p>
            <a:br/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¡Muchas Gracias!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